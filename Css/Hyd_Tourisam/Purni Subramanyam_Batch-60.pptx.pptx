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3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4.png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.png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2.png"/><Relationship Id="rId2" Type="http://schemas.openxmlformats.org/officeDocument/2006/relationships/tags" Target="../tags/tag33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.pn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2.pn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image" Target="../media/image2.png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2.pn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5.pn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演示文稿3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59155" y="676910"/>
            <a:ext cx="7910195" cy="9899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38200" y="1666875"/>
            <a:ext cx="7910195" cy="28409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859155" y="465709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4"/>
            </p:custDataLst>
          </p:nvPr>
        </p:nvSpPr>
        <p:spPr>
          <a:xfrm>
            <a:off x="695960" y="1244600"/>
            <a:ext cx="1080008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325" y="6356350"/>
            <a:ext cx="2886075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 flipH="1">
            <a:off x="4117975" y="6412230"/>
            <a:ext cx="7478395" cy="0"/>
          </a:xfrm>
          <a:prstGeom prst="line">
            <a:avLst/>
          </a:prstGeom>
          <a:ln w="3175">
            <a:solidFill>
              <a:schemeClr val="accent2">
                <a:alpha val="2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59130" y="567690"/>
            <a:ext cx="5282565" cy="818515"/>
          </a:xfrm>
          <a:prstGeom prst="rect">
            <a:avLst/>
          </a:prstGeom>
          <a:noFill/>
        </p:spPr>
        <p:txBody>
          <a:bodyPr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39165" y="1842135"/>
            <a:ext cx="2371725" cy="137541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7200" b="1" i="0" u="none" strike="noStrike" kern="1200" cap="none" spc="0" normalizeH="0" baseline="0" noProof="1" dirty="0">
                <a:ln w="19050">
                  <a:solidFill>
                    <a:schemeClr val="accent1"/>
                  </a:solidFill>
                </a:ln>
                <a:noFill/>
                <a:latin typeface="+mn-lt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939165" y="3217545"/>
            <a:ext cx="7214235" cy="229489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5960" y="1244600"/>
            <a:ext cx="508889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4"/>
            </p:custDataLst>
          </p:nvPr>
        </p:nvSpPr>
        <p:spPr>
          <a:xfrm>
            <a:off x="6235065" y="1669415"/>
            <a:ext cx="5260975" cy="45085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6235065" y="124460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6"/>
            </p:custDataLst>
          </p:nvPr>
        </p:nvSpPr>
        <p:spPr>
          <a:xfrm>
            <a:off x="696595" y="1669415"/>
            <a:ext cx="5253990" cy="450786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7"/>
            </p:custDataLst>
          </p:nvPr>
        </p:nvSpPr>
        <p:spPr>
          <a:xfrm>
            <a:off x="696595" y="1244600"/>
            <a:ext cx="525399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1244600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5" y="6356350"/>
            <a:ext cx="2886075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010920"/>
            <a:ext cx="10800080" cy="340995"/>
          </a:xfrm>
          <a:prstGeom prst="rect">
            <a:avLst/>
          </a:prstGeom>
          <a:noFill/>
        </p:spPr>
        <p:txBody>
          <a:bodyPr wrap="square" t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1" i="0" u="none" strike="noStrike" kern="1200" cap="none" spc="0" normalizeH="0" baseline="0" noProof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2150" y="6356350"/>
            <a:ext cx="288925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5161915" y="1767840"/>
            <a:ext cx="6218555" cy="1844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161915" y="405384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image" Target="../media/image2.png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3_04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6595" y="6356350"/>
            <a:ext cx="2884805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245235"/>
            <a:ext cx="10800080" cy="493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sym typeface="+mn-lt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5125"/>
            <a:ext cx="10800715" cy="73088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chemeClr val="accent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6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16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image" Target="../media/image7.png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17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8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18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image" Target="../media/image9.png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0" Type="http://schemas.openxmlformats.org/officeDocument/2006/relationships/notesSlide" Target="../notesSlides/notesSlide10.xml"/><Relationship Id="rId1" Type="http://schemas.openxmlformats.org/officeDocument/2006/relationships/tags" Target="../tags/tag18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8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image" Target="../media/image10.png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image" Target="../media/image11.png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20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8" Type="http://schemas.openxmlformats.org/officeDocument/2006/relationships/notesSlide" Target="../notesSlides/notesSlide13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0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9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tags" Target="../tags/tag22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0" Type="http://schemas.openxmlformats.org/officeDocument/2006/relationships/notesSlide" Target="../notesSlides/notesSlide15.xml"/><Relationship Id="rId2" Type="http://schemas.openxmlformats.org/officeDocument/2006/relationships/tags" Target="../tags/tag241.xml"/><Relationship Id="rId19" Type="http://schemas.openxmlformats.org/officeDocument/2006/relationships/slideLayout" Target="../slideLayouts/slideLayout8.xml"/><Relationship Id="rId18" Type="http://schemas.openxmlformats.org/officeDocument/2006/relationships/tags" Target="../tags/tag257.xml"/><Relationship Id="rId17" Type="http://schemas.openxmlformats.org/officeDocument/2006/relationships/tags" Target="../tags/tag256.xml"/><Relationship Id="rId16" Type="http://schemas.openxmlformats.org/officeDocument/2006/relationships/tags" Target="../tags/tag255.xml"/><Relationship Id="rId15" Type="http://schemas.openxmlformats.org/officeDocument/2006/relationships/tags" Target="../tags/tag254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8"/>
          <p:cNvSpPr/>
          <p:nvPr>
            <p:custDataLst>
              <p:tags r:id="rId1"/>
            </p:custDataLst>
          </p:nvPr>
        </p:nvSpPr>
        <p:spPr>
          <a:xfrm>
            <a:off x="822960" y="4853305"/>
            <a:ext cx="3657600" cy="7245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cs typeface="Calibri" panose="020F0502020204030204" pitchFamily="34" charset="-120"/>
              </a:rPr>
              <a:t>Presented by</a:t>
            </a:r>
            <a:endParaRPr lang="en-US" sz="1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Text 9"/>
          <p:cNvSpPr/>
          <p:nvPr>
            <p:custDataLst>
              <p:tags r:id="rId2"/>
            </p:custDataLst>
          </p:nvPr>
        </p:nvSpPr>
        <p:spPr>
          <a:xfrm>
            <a:off x="822960" y="5364480"/>
            <a:ext cx="5486400" cy="711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Purni Subramanyam</a:t>
            </a:r>
            <a:endParaRPr lang="en-US" sz="30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10"/>
          <p:cNvSpPr/>
          <p:nvPr>
            <p:custDataLst>
              <p:tags r:id="rId3"/>
            </p:custDataLst>
          </p:nvPr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Frontend Project  |  HTML5 · CSS3 · Responsive Design</a:t>
            </a:r>
            <a:endParaRPr lang="en-US" sz="1150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标题 5"/>
          <p:cNvSpPr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38200" y="1666875"/>
            <a:ext cx="7931785" cy="2911475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3335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TOURISM WEBSITE PROJECT</a:t>
            </a:r>
            <a:endParaRPr lang="en-US" sz="3335" dirty="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15" name="Title 12"/>
          <p:cNvSpPr>
            <a:spLocks noGrp="1"/>
          </p:cNvSpPr>
          <p:nvPr/>
        </p:nvSpPr>
        <p:spPr>
          <a:xfrm>
            <a:off x="822960" y="3411220"/>
            <a:ext cx="100584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600" b="1" i="0" u="none" strike="noStrike" kern="1200" cap="none" spc="0" normalizeH="0" baseline="0" noProof="1" dirty="0">
                <a:solidFill>
                  <a:srgbClr val="FFFFFF"/>
                </a:solidFill>
                <a:uFillTx/>
                <a:latin typeface="+mj-lt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Greater Hyderabad</a:t>
            </a:r>
            <a:endParaRPr>
              <a:solidFill>
                <a:schemeClr val="tx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16" name="Subtitle 15"/>
          <p:cNvSpPr>
            <a:spLocks noGrp="1"/>
          </p:cNvSpPr>
          <p:nvPr>
            <p:ph type="subTitle" idx="14"/>
          </p:nvPr>
        </p:nvSpPr>
        <p:spPr>
          <a:xfrm>
            <a:off x="822960" y="3040380"/>
            <a:ext cx="10058400" cy="845820"/>
          </a:xfrm>
        </p:spPr>
        <p:txBody>
          <a:bodyPr/>
          <a:p>
            <a:pPr algn="l">
              <a:buNone/>
            </a:pPr>
            <a:r>
              <a:rPr>
                <a:latin typeface="Times New Roman" panose="02020603050405020304" charset="0"/>
                <a:ea typeface="+mn-ea"/>
                <a:cs typeface="Times New Roman" panose="02020603050405020304" charset="0"/>
              </a:rPr>
              <a:t>City of Pearls — Tourism Website</a:t>
            </a:r>
            <a:endParaRPr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cs typeface="Cambria" panose="02040503050406030204" pitchFamily="34" charset="-120"/>
              </a:rPr>
              <a:t>1</a:t>
            </a:r>
            <a:endParaRPr lang="en-US" sz="2000" b="1" dirty="0">
              <a:solidFill>
                <a:srgbClr val="FFFFFF"/>
              </a:solidFill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822960" y="2651760"/>
            <a:ext cx="2880360" cy="5029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Project Concept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22960" y="3154680"/>
            <a:ext cx="288036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complete tourism website presenting Hyderabad — the “City of Pearls” — covering its heritage monuments, temples, parks, museums, cuisine, shopping and culture for prospective visitors.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33672" y="169164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4507992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2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507992" y="2651760"/>
            <a:ext cx="2880360" cy="5029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Scope &amp; Outline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4507992" y="3154680"/>
            <a:ext cx="288036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11 interconnected pages: Home, Places, Heritage, Temples, Parks, Museums, Food, Shopping, Gallery, About and Contact — each with its own hero, content sections and consistent navigation.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18704" y="169164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8193024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3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8193024" y="2651760"/>
            <a:ext cx="2880360" cy="5029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Core Tech Stack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8193024" y="3195320"/>
            <a:ext cx="288036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Built with plain HTML5 and CSS3 — 8 stylesheets split by responsibility, hand-crafted, fully static site.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itle 19"/>
          <p:cNvSpPr txBox="1">
            <a:spLocks noGrp="1"/>
          </p:cNvSpPr>
          <p:nvPr>
            <p:ph type="title" idx="1"/>
            <p:custDataLst>
              <p:tags r:id="rId12"/>
            </p:custDataLst>
          </p:nvPr>
        </p:nvSpPr>
        <p:spPr>
          <a:xfrm>
            <a:off x="695960" y="360680"/>
            <a:ext cx="10800080" cy="650240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Introduction</a:t>
            </a:r>
            <a:endParaRPr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Objectives</a:t>
            </a:r>
            <a:endParaRPr lang="en-US" sz="30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cs typeface="Cambria" panose="02040503050406030204" pitchFamily="34" charset="-120"/>
              </a:rPr>
              <a:t>1</a:t>
            </a:r>
            <a:endParaRPr lang="en-US" sz="2000" b="1" dirty="0">
              <a:solidFill>
                <a:srgbClr val="FFFFFF"/>
              </a:solidFill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822960" y="26517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Showcase the Destination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822960" y="3429000"/>
            <a:ext cx="2057400" cy="1965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 Hyderabad's monuments, culture, food and shopping in a visually rich, card-based format that inspires travel.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73501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648456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2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648456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Multi-Page Navigation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648710" y="3444240"/>
            <a:ext cx="2057400" cy="19507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Build a single, identical navbar repeated across all 11 pages so visitors can move seamlessly between categories.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6473952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3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473952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Visual Storytelling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473952" y="3154680"/>
            <a:ext cx="205740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 hero sections, photo galleries, an animated carousel and a historical timeline to bring the city to life.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9448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9299448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4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3"/>
            </p:custDataLst>
          </p:nvPr>
        </p:nvSpPr>
        <p:spPr>
          <a:xfrm>
            <a:off x="9299575" y="2651760"/>
            <a:ext cx="2057400" cy="518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Consistent Design System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9299575" y="3362960"/>
            <a:ext cx="2057400" cy="20421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Apply one shared set of colours, fonts, shadows and spacing tokens across every page and every component.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00200"/>
            <a:ext cx="3566160" cy="3931920"/>
          </a:xfrm>
          <a:prstGeom prst="roundRect">
            <a:avLst>
              <a:gd name="adj" fmla="val 2564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Semantic Structure</a:t>
            </a:r>
            <a:endParaRPr lang="en-US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37744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&lt;nav&gt; &lt;section&gt; &lt;article&gt; &lt;footer&gt;</a:t>
            </a:r>
            <a:endParaRPr lang="en-US" sz="1200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77240" y="2697480"/>
            <a:ext cx="31089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Semantic HTML5 sectioning on every page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342900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&lt;div class="container"&gt;</a:t>
            </a:r>
            <a:endParaRPr lang="en-US" sz="1200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777240" y="3749040"/>
            <a:ext cx="31089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Centred, max-width content wrapper (1200px)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343400" y="1600200"/>
            <a:ext cx="3566160" cy="3931920"/>
          </a:xfrm>
          <a:prstGeom prst="roundRect">
            <a:avLst>
              <a:gd name="adj" fmla="val 2564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72000" y="1783080"/>
            <a:ext cx="31089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Modern Layout Engines</a:t>
            </a:r>
            <a:endParaRPr lang="en-US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572000" y="237744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CSS Grid</a:t>
            </a:r>
            <a:endParaRPr lang="en-US" sz="1200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72000" y="2697480"/>
            <a:ext cx="31089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Card grids, footer columns, filter/emergency layouts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572000" y="342900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Flexbox</a:t>
            </a:r>
            <a:endParaRPr lang="en-US" sz="1200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4572000" y="3749040"/>
            <a:ext cx="31089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Navbar, buttons, card headers, form rows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8138160" y="1600200"/>
            <a:ext cx="3566160" cy="3931920"/>
          </a:xfrm>
          <a:prstGeom prst="roundRect">
            <a:avLst>
              <a:gd name="adj" fmla="val 2564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366760" y="1783080"/>
            <a:ext cx="31089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  <a:latin typeface="Times New Roman" panose="02020603050405020304" charset="0"/>
                <a:ea typeface="+mj-ea"/>
                <a:cs typeface="Times New Roman" panose="02020603050405020304" charset="0"/>
              </a:rPr>
              <a:t>Design Tokens (:root)</a:t>
            </a:r>
            <a:endParaRPr lang="en-US" b="1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366760" y="237744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CSS Custom Properties</a:t>
            </a:r>
            <a:endParaRPr lang="en-US" sz="1200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8366760" y="2697480"/>
            <a:ext cx="31089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Colours, fonts, radii, shadows &amp; transitions — one source of truth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8366760" y="3429000"/>
            <a:ext cx="3108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3 Font Families</a:t>
            </a:r>
            <a:endParaRPr lang="en-US" sz="1200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8366760" y="3749040"/>
            <a:ext cx="31089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Playfair Display (headings) · Poppins (body) · Inter (UI)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itle 22"/>
          <p:cNvSpPr txBox="1">
            <a:spLocks noGrp="1"/>
          </p:cNvSpPr>
          <p:nvPr>
            <p:ph type="title" idx="1"/>
            <p:custDataLst>
              <p:tags r:id="rId20"/>
            </p:custDataLst>
          </p:nvPr>
        </p:nvSpPr>
        <p:spPr>
          <a:xfrm>
            <a:off x="695960" y="717550"/>
            <a:ext cx="10800080" cy="293370"/>
          </a:xfrm>
          <a:noFill/>
        </p:spPr>
        <p:txBody>
          <a:bodyPr vert="horz" wrap="square" lIns="91440" tIns="0" rIns="91440" bIns="0" rtlCol="0" anchor="b" anchorCtr="0">
            <a:normAutofit fontScale="90000"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00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Core Technologies — Structure &amp; Layout</a:t>
            </a:r>
            <a:endParaRPr sz="300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/>
          <p:cNvSpPr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95960" y="2082165"/>
            <a:ext cx="10800080" cy="4094480"/>
          </a:xfrm>
        </p:spPr>
        <p:txBody>
          <a:bodyPr/>
          <a:p>
            <a:r>
              <a:rPr lang="en-US">
                <a:ea typeface="+mn-ea"/>
              </a:rPr>
              <a:t>单击此处编辑母版文本样式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第二级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第三级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第四级</a:t>
            </a:r>
            <a:endParaRPr lang="en-US">
              <a:ea typeface="+mn-ea"/>
            </a:endParaRPr>
          </a:p>
          <a:p>
            <a:r>
              <a:rPr lang="en-US">
                <a:ea typeface="+mn-ea"/>
              </a:rPr>
              <a:t>第五级</a:t>
            </a:r>
            <a:endParaRPr lang="en-US">
              <a:ea typeface="+mn-ea"/>
            </a:endParaRPr>
          </a:p>
        </p:txBody>
      </p:sp>
      <p:sp>
        <p:nvSpPr>
          <p:cNvPr id="2" name="Text 0"/>
          <p:cNvSpPr/>
          <p:nvPr>
            <p:custDataLst>
              <p:tags r:id="rId2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548640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accent1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548640" y="2057400"/>
            <a:ext cx="2606040" cy="762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endParaRPr lang="en-US" sz="38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685800" y="2423795"/>
            <a:ext cx="2331720" cy="62801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Keyframe Animations</a:t>
            </a:r>
            <a:endParaRPr lang="en-US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731520" y="3337560"/>
            <a:ext cx="2240280" cy="17373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fadeIn, float, pulse, glow, shimmer, spin, gradientShift &amp; more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>
            <p:custDataLst>
              <p:tags r:id="rId7"/>
            </p:custDataLst>
          </p:nvPr>
        </p:nvSpPr>
        <p:spPr>
          <a:xfrm>
            <a:off x="3355848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accent1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3355975" y="2057400"/>
            <a:ext cx="2606040" cy="762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endParaRPr lang="en-US" sz="38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9"/>
            </p:custDataLst>
          </p:nvPr>
        </p:nvSpPr>
        <p:spPr>
          <a:xfrm>
            <a:off x="3493135" y="2449195"/>
            <a:ext cx="2331720" cy="628650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CSS-Only Interactions</a:t>
            </a:r>
            <a:endParaRPr lang="en-US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>
            <p:custDataLst>
              <p:tags r:id="rId10"/>
            </p:custDataLst>
          </p:nvPr>
        </p:nvSpPr>
        <p:spPr>
          <a:xfrm>
            <a:off x="3538728" y="3337560"/>
            <a:ext cx="2240280" cy="17373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Mobile nav menu &amp; gallery filter — built with :checked, zero JavaScript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>
            <p:custDataLst>
              <p:tags r:id="rId11"/>
            </p:custDataLst>
          </p:nvPr>
        </p:nvSpPr>
        <p:spPr>
          <a:xfrm>
            <a:off x="6163056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accent1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2"/>
            </p:custDataLst>
          </p:nvPr>
        </p:nvSpPr>
        <p:spPr>
          <a:xfrm>
            <a:off x="6163310" y="2057400"/>
            <a:ext cx="2606040" cy="7620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marL="0" indent="0" algn="ctr">
              <a:buNone/>
            </a:pPr>
            <a:endParaRPr lang="en-US" sz="38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3"/>
            </p:custDataLst>
          </p:nvPr>
        </p:nvSpPr>
        <p:spPr>
          <a:xfrm>
            <a:off x="6300470" y="2449195"/>
            <a:ext cx="2331720" cy="66230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Responsive Breakpoints</a:t>
            </a:r>
            <a:endParaRPr lang="en-US" b="1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>
            <p:custDataLst>
              <p:tags r:id="rId14"/>
            </p:custDataLst>
          </p:nvPr>
        </p:nvSpPr>
        <p:spPr>
          <a:xfrm>
            <a:off x="6345936" y="3337560"/>
            <a:ext cx="2240280" cy="17373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From 1400px desktops down to 374px phones, in one dedicated stylesheet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>
            <p:custDataLst>
              <p:tags r:id="rId15"/>
            </p:custDataLst>
          </p:nvPr>
        </p:nvSpPr>
        <p:spPr>
          <a:xfrm>
            <a:off x="8970264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accent1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6"/>
            </p:custDataLst>
          </p:nvPr>
        </p:nvSpPr>
        <p:spPr>
          <a:xfrm>
            <a:off x="8970010" y="2057400"/>
            <a:ext cx="2606040" cy="116840"/>
          </a:xfrm>
          <a:prstGeom prst="rect">
            <a:avLst/>
          </a:prstGeom>
          <a:noFill/>
        </p:spPr>
        <p:txBody>
          <a:bodyPr wrap="square" rtlCol="0" anchor="ctr">
            <a:normAutofit fontScale="25000"/>
          </a:bodyPr>
          <a:lstStyle/>
          <a:p>
            <a:pPr marL="0" indent="0" algn="ctr">
              <a:buNone/>
            </a:pPr>
            <a:endParaRPr lang="en-US" sz="38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7"/>
            </p:custDataLst>
          </p:nvPr>
        </p:nvSpPr>
        <p:spPr>
          <a:xfrm>
            <a:off x="9107170" y="2449195"/>
            <a:ext cx="2331720" cy="6318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Auto-Playing Carousel</a:t>
            </a:r>
            <a:endParaRPr lang="en-US" b="1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9153144" y="3337560"/>
            <a:ext cx="2240280" cy="17373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lt1"/>
                </a:solidFill>
                <a:latin typeface="Times New Roman" panose="02020603050405020304" charset="0"/>
                <a:cs typeface="Times New Roman" panose="02020603050405020304" charset="0"/>
              </a:rPr>
              <a:t>A 7-photo carousel cycles continuously using only CSS keyframe timing</a:t>
            </a:r>
            <a:endParaRPr lang="en-US" sz="1200" dirty="0">
              <a:solidFill>
                <a:schemeClr val="l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>
            <p:custDataLst>
              <p:tags r:id="rId19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itle 20"/>
          <p:cNvSpPr txBox="1">
            <a:spLocks noGrp="1"/>
          </p:cNvSpPr>
          <p:nvPr>
            <p:ph type="title" idx="1"/>
            <p:custDataLst>
              <p:tags r:id="rId20"/>
            </p:custDataLst>
          </p:nvPr>
        </p:nvSpPr>
        <p:spPr>
          <a:xfrm>
            <a:off x="695960" y="536575"/>
            <a:ext cx="10800080" cy="474345"/>
          </a:xfrm>
          <a:noFill/>
        </p:spPr>
        <p:txBody>
          <a:bodyPr vert="horz" wrap="square" lIns="91440" tIns="0" rIns="91440" bIns="0" rtlCol="0" anchor="b" anchorCtr="0">
            <a:normAutofit fontScale="90000"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335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Core Technologies — Motion &amp; Interactivity</a:t>
            </a:r>
            <a:endParaRPr sz="3335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cs typeface="Cambria" panose="02040503050406030204" pitchFamily="34" charset="-120"/>
              </a:rPr>
              <a:t>1</a:t>
            </a:r>
            <a:endParaRPr lang="en-US" sz="2000" b="1" dirty="0">
              <a:solidFill>
                <a:srgbClr val="FFFFFF"/>
              </a:solidFill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822960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Unified Navigation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22960" y="3154680"/>
            <a:ext cx="205740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fixed, frosted-glass navbar with an animated underline repeats identically across all 11 pages.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74136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648456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2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648456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Reusable Card Library</a:t>
            </a:r>
            <a:endParaRPr lang="en-US" sz="17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3648456" y="3154680"/>
            <a:ext cx="205740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 distinct card families (place, detail, shop, food) built once in cards.css and reused across every listing page.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6473952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3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6473952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CSS-Driven Carousel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6473952" y="3154680"/>
            <a:ext cx="205740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7-photo gallery preview cycles endlessly using staggered negative animation-delays — no JS required.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9448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21" name="Text 19"/>
          <p:cNvSpPr/>
          <p:nvPr>
            <p:custDataLst>
              <p:tags r:id="rId11"/>
            </p:custDataLst>
          </p:nvPr>
        </p:nvSpPr>
        <p:spPr>
          <a:xfrm>
            <a:off x="9299448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4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2"/>
            </p:custDataLst>
          </p:nvPr>
        </p:nvSpPr>
        <p:spPr>
          <a:xfrm>
            <a:off x="9299448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Fully Responsive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>
            <p:custDataLst>
              <p:tags r:id="rId13"/>
            </p:custDataLst>
          </p:nvPr>
        </p:nvSpPr>
        <p:spPr>
          <a:xfrm>
            <a:off x="9299448" y="3154680"/>
            <a:ext cx="2057400" cy="2240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7 breakpoints reshape every grid, form and navbar from large desktops down to small phones.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>
            <p:custDataLst>
              <p:tags r:id="rId14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itle 24"/>
          <p:cNvSpPr txBox="1">
            <a:spLocks noGrp="1"/>
          </p:cNvSpPr>
          <p:nvPr>
            <p:ph type="title" idx="1"/>
            <p:custDataLst>
              <p:tags r:id="rId15"/>
            </p:custDataLst>
          </p:nvPr>
        </p:nvSpPr>
        <p:spPr>
          <a:xfrm>
            <a:off x="695960" y="716915"/>
            <a:ext cx="10800080" cy="294005"/>
          </a:xfrm>
          <a:noFill/>
        </p:spPr>
        <p:txBody>
          <a:bodyPr vert="horz" wrap="square" lIns="91440" tIns="0" rIns="91440" bIns="0" rtlCol="0" anchor="b" anchorCtr="0">
            <a:normAutofit fontScale="90000"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335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Key </a:t>
            </a:r>
            <a:r>
              <a:rPr sz="3335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Features</a:t>
            </a:r>
            <a:endParaRPr sz="3335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48640" y="1325880"/>
            <a:ext cx="777240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Hero banner with rotating emblem, stats bar and dual call-to-action buttons</a:t>
            </a:r>
            <a:endParaRPr lang="en-US" sz="15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1155848" y="1728216"/>
            <a:ext cx="9877255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444444">
                <a:alpha val="30000"/>
              </a:srgbClr>
            </a:outerShdw>
          </a:effectLst>
        </p:spPr>
      </p:sp>
      <p:pic>
        <p:nvPicPr>
          <p:cNvPr id="6" name="Image 0" descr="/home/claude/build/img/shot_hom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7512" y="1783080"/>
            <a:ext cx="10853928" cy="470916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709930"/>
            <a:ext cx="10800080" cy="300990"/>
          </a:xfrm>
          <a:noFill/>
        </p:spPr>
        <p:txBody>
          <a:bodyPr vert="horz" wrap="square" lIns="91440" tIns="0" rIns="91440" bIns="0" rtlCol="0" anchor="b" anchorCtr="0">
            <a:normAutofit fontScale="90000"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00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Home Page</a:t>
            </a:r>
            <a:endParaRPr sz="300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48640" y="1325880"/>
            <a:ext cx="7772400" cy="548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Filter bar plus a 3-column grid of destination cards with ratings, timings &amp; entry fees</a:t>
            </a:r>
            <a:endParaRPr lang="en-US" sz="15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3121980" y="1728216"/>
            <a:ext cx="5944991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444444">
                <a:alpha val="30000"/>
              </a:srgbClr>
            </a:outerShdw>
          </a:effectLst>
        </p:spPr>
      </p:sp>
      <p:pic>
        <p:nvPicPr>
          <p:cNvPr id="6" name="Image 0" descr="/home/claude/build/img/shot_places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86408" y="1673352"/>
            <a:ext cx="10543592" cy="4818888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85445"/>
            <a:ext cx="10800080" cy="625475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00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All Places — Listing Page</a:t>
            </a:r>
            <a:endParaRPr sz="300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48640" y="1325880"/>
            <a:ext cx="7772400" cy="548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Feature tiles, an image collage and a floating “400+ Years” badge on the homepage</a:t>
            </a:r>
            <a:endParaRPr lang="en-US" sz="1500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1333071" y="1728216"/>
            <a:ext cx="9522810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444444">
                <a:alpha val="30000"/>
              </a:srgbClr>
            </a:outerShdw>
          </a:effectLst>
        </p:spPr>
      </p:sp>
      <p:pic>
        <p:nvPicPr>
          <p:cNvPr id="6" name="Image 0" descr="/home/claude/build/img/shot_whyvisit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7935" y="1783080"/>
            <a:ext cx="9413082" cy="470916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413385"/>
            <a:ext cx="10800080" cy="597535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335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Why Visit Hyderabad</a:t>
            </a:r>
            <a:endParaRPr sz="3335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48640" y="1325880"/>
            <a:ext cx="777240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Shop-card grid with tagged highlights (Luxury, Family, Mega Mall, IMAX...)</a:t>
            </a:r>
            <a:endParaRPr lang="en-US" sz="15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2580550" y="1728216"/>
            <a:ext cx="7027852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444444">
                <a:alpha val="30000"/>
              </a:srgbClr>
            </a:outerShdw>
          </a:effectLst>
        </p:spPr>
      </p:sp>
      <p:pic>
        <p:nvPicPr>
          <p:cNvPr id="6" name="Image 0" descr="/home/claude/build/img/shot_shoppin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34135" y="1673225"/>
            <a:ext cx="9237345" cy="5024755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382905"/>
            <a:ext cx="10800080" cy="628015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00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Shopping — Malls &amp; Centres</a:t>
            </a:r>
            <a:endParaRPr sz="300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548640" y="1325880"/>
            <a:ext cx="777240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CSS-only category filters above a responsive photo masonry grid</a:t>
            </a:r>
            <a:endParaRPr lang="en-US" sz="1500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310799" y="1728216"/>
            <a:ext cx="3567354" cy="481888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444444">
                <a:alpha val="30000"/>
              </a:srgbClr>
            </a:outerShdw>
          </a:effectLst>
        </p:spPr>
      </p:sp>
      <p:pic>
        <p:nvPicPr>
          <p:cNvPr id="6" name="Image 0" descr="/home/claude/build/img/shot_gallery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8212" y="1618488"/>
            <a:ext cx="9545217" cy="487375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5960" y="481330"/>
            <a:ext cx="10800080" cy="529590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00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Gallery — Explore Through Photos</a:t>
            </a:r>
            <a:endParaRPr sz="300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latin typeface="+mj-lt"/>
              <a:ea typeface="+mj-ea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48640" y="1325880"/>
            <a:ext cx="7772400" cy="548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City narrative and key statistics beside a photo collage of Hyderabad's landmarks</a:t>
            </a:r>
            <a:endParaRPr lang="en-US" sz="15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827442" y="1728216"/>
            <a:ext cx="10534068" cy="4818888"/>
          </a:xfrm>
          <a:prstGeom prst="roundRect">
            <a:avLst>
              <a:gd name="adj" fmla="val 1139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444444">
                <a:alpha val="30000"/>
              </a:srgbClr>
            </a:outerShdw>
          </a:effectLst>
        </p:spPr>
      </p:sp>
      <p:pic>
        <p:nvPicPr>
          <p:cNvPr id="6" name="Image 0" descr="/home/claude/build/img/shot_ourstory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82306" y="1783080"/>
            <a:ext cx="10424340" cy="4709160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itle 7"/>
          <p:cNvSpPr txBox="1">
            <a:spLocks noGrp="1"/>
          </p:cNvSpPr>
          <p:nvPr>
            <p:ph type="title" idx="1"/>
            <p:custDataLst>
              <p:tags r:id="rId7"/>
            </p:custDataLst>
          </p:nvPr>
        </p:nvSpPr>
        <p:spPr>
          <a:xfrm>
            <a:off x="695960" y="459105"/>
            <a:ext cx="10800080" cy="551815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00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About — Our Story</a:t>
            </a:r>
            <a:endParaRPr sz="300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cs typeface="Cambria" panose="02040503050406030204" pitchFamily="34" charset="-120"/>
              </a:rPr>
              <a:t>1</a:t>
            </a:r>
            <a:endParaRPr lang="en-US" sz="2000" b="1" dirty="0">
              <a:solidFill>
                <a:srgbClr val="FFFFFF"/>
              </a:solidFill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822960" y="26517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Carousel Animation Math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22960" y="3429000"/>
            <a:ext cx="2057400" cy="1965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Getting the 7-card gallery carousel to loop seamlessly required precise keyframe percentages and negative animation-delay staggering.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74136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648456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2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3648456" y="26517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Consistency Across 8 Stylesheets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3648710" y="3451225"/>
            <a:ext cx="2057400" cy="194373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Keeping colours, spacing and typography identical across style, home, cards, about, contact, gallery, animation &amp; responsive CSS.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6473952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3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6473952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CSS-Only Interactivity</a:t>
            </a:r>
            <a:endParaRPr lang="en-US" sz="17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6473825" y="3474720"/>
            <a:ext cx="2057400" cy="19202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Building a working mobile menu and gallery filter using only the :checked pseudo-class, without any JavaScript.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9448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21" name="Text 19"/>
          <p:cNvSpPr/>
          <p:nvPr>
            <p:custDataLst>
              <p:tags r:id="rId11"/>
            </p:custDataLst>
          </p:nvPr>
        </p:nvSpPr>
        <p:spPr>
          <a:xfrm>
            <a:off x="9299448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4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2"/>
            </p:custDataLst>
          </p:nvPr>
        </p:nvSpPr>
        <p:spPr>
          <a:xfrm>
            <a:off x="9299448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Cross-Page Consistency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>
            <p:custDataLst>
              <p:tags r:id="rId13"/>
            </p:custDataLst>
          </p:nvPr>
        </p:nvSpPr>
        <p:spPr>
          <a:xfrm>
            <a:off x="9299575" y="3543300"/>
            <a:ext cx="2057400" cy="18516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Repeating the navbar and footer identically across 11 separate HTML files with no shared template engine.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>
            <p:custDataLst>
              <p:tags r:id="rId14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itle 24"/>
          <p:cNvSpPr txBox="1">
            <a:spLocks noGrp="1"/>
          </p:cNvSpPr>
          <p:nvPr>
            <p:ph type="title" idx="1"/>
            <p:custDataLst>
              <p:tags r:id="rId15"/>
            </p:custDataLst>
          </p:nvPr>
        </p:nvSpPr>
        <p:spPr>
          <a:xfrm>
            <a:off x="695960" y="444500"/>
            <a:ext cx="10800080" cy="566420"/>
          </a:xfr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335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Challenges Faced</a:t>
            </a:r>
            <a:endParaRPr sz="3335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rtlCol="0" anchor="ctr">
            <a:normAutofit fontScale="90000" lnSpcReduction="20000"/>
          </a:bodyPr>
          <a:lstStyle/>
          <a:p>
            <a:pPr marL="0" indent="0">
              <a:buNone/>
            </a:pPr>
            <a:endParaRPr lang="en-US" sz="12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Learnings &amp; Outcomes</a:t>
            </a:r>
            <a:endParaRPr lang="en-US" sz="30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cs typeface="Cambria" panose="02040503050406030204" pitchFamily="34" charset="-120"/>
              </a:rPr>
              <a:t>1</a:t>
            </a:r>
            <a:endParaRPr lang="en-US" sz="2000" b="1" dirty="0">
              <a:solidFill>
                <a:srgbClr val="FFFFFF"/>
              </a:solidFill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822960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CSS Architecture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822960" y="3429000"/>
            <a:ext cx="2057400" cy="1965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Learned to split stylesheets by responsibility (foundation, layout, components, motion, responsive) for a maintainable codebase.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74136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648456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2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648456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Advanced Animation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648710" y="3405505"/>
            <a:ext cx="2057400" cy="198945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Gained hands-on experience with keyframes, animation-delay staggering, and 3D perspective hover effects.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6473952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3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473952" y="26517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Responsive Design Strategy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473825" y="3429000"/>
            <a:ext cx="2057400" cy="19659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Practiced structuring a full breakpoint system from large desktops down to small mobile phones.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25128" y="16916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9448" y="196596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</p:spPr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9299448" y="19659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lt1"/>
                </a:solidFill>
                <a:cs typeface="Cambria" panose="02040503050406030204" pitchFamily="34" charset="-120"/>
              </a:rPr>
              <a:t>4</a:t>
            </a:r>
            <a:endParaRPr lang="en-US" sz="20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3"/>
            </p:custDataLst>
          </p:nvPr>
        </p:nvSpPr>
        <p:spPr>
          <a:xfrm>
            <a:off x="9299448" y="2651760"/>
            <a:ext cx="2057400" cy="502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Component Thinking</a:t>
            </a:r>
            <a:endParaRPr lang="en-US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9299575" y="3466465"/>
            <a:ext cx="2057400" cy="192849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Built a reusable card library and design-token system that scales cleanly across 11 pages.</a:t>
            </a:r>
            <a:endParaRPr lang="en-US" sz="105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chemeClr val="accent1">
              <a:alpha val="70000"/>
            </a:schemeClr>
          </a:solidFill>
        </p:spPr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0" y="0"/>
            <a:ext cx="12188952" cy="914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4" name="Text 2"/>
          <p:cNvSpPr/>
          <p:nvPr>
            <p:custDataLst>
              <p:tags r:id="rId3"/>
            </p:custDataLst>
          </p:nvPr>
        </p:nvSpPr>
        <p:spPr>
          <a:xfrm>
            <a:off x="822960" y="685800"/>
            <a:ext cx="54864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300" b="1" kern="0" spc="200" dirty="0">
              <a:solidFill>
                <a:schemeClr val="accent1"/>
              </a:solidFill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82296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822960" y="2286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cs typeface="Cambria" panose="02040503050406030204" pitchFamily="34" charset="-120"/>
              </a:rPr>
              <a:t>1</a:t>
            </a:r>
            <a:endParaRPr lang="en-US" sz="16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508760" y="2240280"/>
            <a:ext cx="950976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Successful Project Completion</a:t>
            </a:r>
            <a:endParaRPr lang="en-US" sz="15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508760" y="2633472"/>
            <a:ext cx="95097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All 11 pages meet the planned structure, navigation, and visual-design goals set out at the start of the project.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822960" y="3429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822960" y="3429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cs typeface="Cambria" panose="02040503050406030204" pitchFamily="34" charset="-120"/>
              </a:rPr>
              <a:t>2</a:t>
            </a:r>
            <a:endParaRPr lang="en-US" sz="16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1508760" y="3383280"/>
            <a:ext cx="950976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Strong, Reusable Foundation</a:t>
            </a:r>
            <a:endParaRPr lang="en-US" sz="15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1508760" y="3776472"/>
            <a:ext cx="95097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design-token and component system is clean enough to extend with new pages or categories with minimal extra CSS.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82296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</p:spPr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822960" y="4572000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lt1"/>
                </a:solidFill>
                <a:cs typeface="Cambria" panose="02040503050406030204" pitchFamily="34" charset="-120"/>
              </a:rPr>
              <a:t>3</a:t>
            </a:r>
            <a:endParaRPr lang="en-US" sz="1600" b="1" dirty="0">
              <a:solidFill>
                <a:schemeClr val="lt1"/>
              </a:solidFill>
              <a:cs typeface="Cambria" panose="0204050305040603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1508760" y="4526280"/>
            <a:ext cx="9509760" cy="3657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Next Steps</a:t>
            </a:r>
            <a:endParaRPr lang="en-US" sz="1500" b="1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1508760" y="4919472"/>
            <a:ext cx="9509760" cy="5943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Add a real backend for the contact form, JavaScript-powered search/filtering, and a CMS to manage places dynamically.</a:t>
            </a:r>
            <a:endParaRPr lang="en-US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822960" y="5943600"/>
            <a:ext cx="7315200" cy="54864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chemeClr val="accent1"/>
                </a:solidFill>
                <a:latin typeface="Times New Roman" panose="02020603050405020304" charset="0"/>
                <a:ea typeface="+mj-ea"/>
                <a:cs typeface="Times New Roman" panose="02020603050405020304" charset="0"/>
              </a:rPr>
              <a:t>Thank You</a:t>
            </a:r>
            <a:endParaRPr lang="en-US" sz="2500" b="1" dirty="0">
              <a:solidFill>
                <a:schemeClr val="accent1"/>
              </a:solidFill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19" name="Title 18"/>
          <p:cNvSpPr txBox="1">
            <a:spLocks noGrp="1"/>
          </p:cNvSpPr>
          <p:nvPr>
            <p:ph type="title" idx="1"/>
            <p:custDataLst>
              <p:tags r:id="rId17"/>
            </p:custDataLst>
          </p:nvPr>
        </p:nvSpPr>
        <p:spPr>
          <a:xfrm rot="10800000" flipV="1">
            <a:off x="695960" y="874395"/>
            <a:ext cx="10800080" cy="459740"/>
          </a:xfrm>
          <a:noFill/>
        </p:spPr>
        <p:txBody>
          <a:bodyPr vert="horz" wrap="square" lIns="91440" tIns="0" rIns="91440" bIns="0" rtlCol="0" anchor="b" anchorCtr="0">
            <a:normAutofit fontScale="90000"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/>
            <a:r>
              <a:rPr sz="3335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Conclusion &amp; Future Scope</a:t>
            </a:r>
            <a:endParaRPr sz="3335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此处添加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0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04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04"/>
</p:tagLst>
</file>

<file path=ppt/tags/tag7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6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04_1*a*1"/>
  <p:tag name="KSO_WM_TEMPLATE_CATEGORY" val="custom"/>
  <p:tag name="KSO_WM_TEMPLATE_INDEX" val="2023340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32.85&quot;,&quot;top&quot;:&quot;118.65&quot;,&quot;width&quot;:&quot;559.25&quot;,&quot;height&quot;:&quot;270.8&quot;}"/>
  <p:tag name="KSO_WM_SLIDE_ID" val="custom2023340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04"/>
  <p:tag name="KSO_WM_SLIDE_LAYOUT" val="a_b_f"/>
  <p:tag name="KSO_WM_SLIDE_LAYOUT_CNT" val="1_1_1"/>
  <p:tag name="KSO_WM_SLIDE_THEME_ID" val="3302418"/>
  <p:tag name="KSO_WM_SLIDE_THEME_NAME" val="Blue Minimalist"/>
</p:tagLst>
</file>

<file path=ppt/tags/tag80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81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2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3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4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5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6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7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8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89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273.2,&quot;left&quot;:64.8,&quot;top&quot;:154.8,&quot;width&quot;:807.1200000000001}"/>
</p:tagLst>
</file>

<file path=ppt/tags/tag9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UNIT_INDEX" val="2"/>
  <p:tag name="KSO_WM_UNIT_TYPE" val="b"/>
  <p:tag name="KSO_WM_BEAUTIFY_FLAG" val="#wm#"/>
</p:tagLst>
</file>

<file path=ppt/tags/tag95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96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97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98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99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0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1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2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3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4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5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6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DIAGRAM_VIRTUALLY_FRAME" val="{&quot;height&quot;:270.8,&quot;left&quot;:64.8,&quot;top&quot;:154.8,&quot;width&quot;:829.45}"/>
</p:tagLst>
</file>

<file path=ppt/tags/tag10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1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6*l_h_f*1_1_2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12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6*l_h_f*1_1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13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6*l_h_f*1_4_2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1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6*l_h_f*1_4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15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1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6*l_h_a*1_2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18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6*l_h_f*1_2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19.xml><?xml version="1.0" encoding="utf-8"?>
<p:tagLst xmlns:p="http://schemas.openxmlformats.org/presentationml/2006/main">
  <p:tag name="KSO_WM_BEAUTIFY_FLAG" val="#wm#"/>
  <p:tag name="KSO_WM_UNIT_TYPE" val="l_h_a"/>
  <p:tag name="KSO_WM_UNIT_INDEX" val="1_5_1"/>
  <p:tag name="KSO_WM_UNIT_ID" val="diagram19882022_6*l_h_a*1_5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20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6*l_h_f*1_5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2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INDEX" val="8"/>
  <p:tag name="KSO_WM_UNIT_TYPE" val="a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6*l_h_f*1_3_2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24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6*l_h_f*1_3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25.xml><?xml version="1.0" encoding="utf-8"?>
<p:tagLst xmlns:p="http://schemas.openxmlformats.org/presentationml/2006/main">
  <p:tag name="KSO_WM_BEAUTIFY_FLAG" val="#wm#"/>
  <p:tag name="KSO_WM_UNIT_TYPE" val="l_h_f"/>
  <p:tag name="KSO_WM_UNIT_INDEX" val="1_6_2"/>
  <p:tag name="KSO_WM_UNIT_ID" val="diagram19882022_6*l_h_f*1_6_2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26.xml><?xml version="1.0" encoding="utf-8"?>
<p:tagLst xmlns:p="http://schemas.openxmlformats.org/presentationml/2006/main">
  <p:tag name="KSO_WM_BEAUTIFY_FLAG" val="#wm#"/>
  <p:tag name="KSO_WM_UNIT_TYPE" val="l_h_f"/>
  <p:tag name="KSO_WM_UNIT_INDEX" val="1_6_1"/>
  <p:tag name="KSO_WM_UNIT_ID" val="diagram19882022_6*l_h_f*1_6_1"/>
  <p:tag name="KSO_WM_TEMPLATE_INDEX" val="19882022"/>
  <p:tag name="KSO_WM_TAG_VERSION" val="2.0"/>
  <p:tag name="KSO_WM_DIAGRAM_GROUP_CODE" val="l1-1"/>
  <p:tag name="KSO_WM_DIAGRAM_VIRTUALLY_FRAME" val="{&quot;height&quot;:154.8,&quot;left&quot;:61.2,&quot;top&quot;:187.2,&quot;width&quot;:842.4}"/>
</p:tagLst>
</file>

<file path=ppt/tags/tag127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28.xml><?xml version="1.0" encoding="utf-8"?>
<p:tagLst xmlns:p="http://schemas.openxmlformats.org/presentationml/2006/main">
  <p:tag name="KSO_WM_UNIT_TEXT" val="Site Map — 11 P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29.xml><?xml version="1.0" encoding="utf-8"?>
<p:tagLst xmlns:p="http://schemas.openxmlformats.org/presentationml/2006/main">
  <p:tag name="KSO_WM_SLIDE_TYPE" val="text"/>
  <p:tag name="KSO_WM_BEAUTIFY_FLAG" val="#wm#"/>
</p:tagLst>
</file>

<file path=ppt/tags/tag13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33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34.xml><?xml version="1.0" encoding="utf-8"?>
<p:tagLst xmlns:p="http://schemas.openxmlformats.org/presentationml/2006/main">
  <p:tag name="KSO_WM_BEAUTIFY_FLAG" val="#wm#"/>
  <p:tag name="KSO_WM_UNIT_TYPE" val="l_h_f"/>
  <p:tag name="KSO_WM_UNIT_INDEX" val="1_4_2"/>
  <p:tag name="KSO_WM_UNIT_ID" val="diagram19882022_4*l_h_f*1_4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35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36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4*l_h_i*1_2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37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66.4,&quot;left&quot;:43.2,&quot;top&quot;:144,&quot;width&quot;:868.32}"/>
</p:tagLst>
</file>

<file path=ppt/tags/tag138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4*l_h_f*1_2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39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0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4*l_h_i*1_3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1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66.4,&quot;left&quot;:43.2,&quot;top&quot;:144,&quot;width&quot;:868.32}"/>
</p:tagLst>
</file>

<file path=ppt/tags/tag142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4*l_h_f*1_3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3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4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4*l_h_i*1_1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5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66.4,&quot;left&quot;:43.2,&quot;top&quot;:144,&quot;width&quot;:868.32}"/>
</p:tagLst>
</file>

<file path=ppt/tags/tag146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4*l_h_f*1_1_2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7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  <p:tag name="KSO_WM_DIAGRAM_VIRTUALLY_FRAME" val="{&quot;height&quot;:266.4,&quot;left&quot;:43.2,&quot;top&quot;:144,&quot;width&quot;:868.32}"/>
</p:tagLst>
</file>

<file path=ppt/tags/tag148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SLIDE_TYPE" val="text"/>
  <p:tag name="KSO_WM_BEAUTIFY_FLAG" val="#wm#"/>
</p:tagLst>
</file>

<file path=ppt/tags/tag151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152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3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4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5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6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7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8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59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60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61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62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63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399999999999}"/>
</p:tagLst>
</file>

<file path=ppt/tags/tag16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TEXT" val="Core Technologies — Structure &amp; Layou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66.xml><?xml version="1.0" encoding="utf-8"?>
<p:tagLst xmlns:p="http://schemas.openxmlformats.org/presentationml/2006/main">
  <p:tag name="KSO_WM_SLIDE_TYPE" val="text"/>
  <p:tag name="KSO_WM_BEAUTIFY_FLAG" val="#wm#"/>
</p:tagLst>
</file>

<file path=ppt/tags/tag167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16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6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7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72.xml><?xml version="1.0" encoding="utf-8"?>
<p:tagLst xmlns:p="http://schemas.openxmlformats.org/presentationml/2006/main">
  <p:tag name="KSO_WM_UNIT_TEXT" val="Key Featur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73.xml><?xml version="1.0" encoding="utf-8"?>
<p:tagLst xmlns:p="http://schemas.openxmlformats.org/presentationml/2006/main">
  <p:tag name="KSO_WM_SLIDE_TYPE" val="text"/>
  <p:tag name="KSO_WM_BEAUTIFY_FLAG" val="#wm#"/>
</p:tagLst>
</file>

<file path=ppt/tags/tag174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17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7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77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7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79.xml><?xml version="1.0" encoding="utf-8"?>
<p:tagLst xmlns:p="http://schemas.openxmlformats.org/presentationml/2006/main">
  <p:tag name="KSO_WM_UNIT_TEXT" val="Home Pag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80.xml><?xml version="1.0" encoding="utf-8"?>
<p:tagLst xmlns:p="http://schemas.openxmlformats.org/presentationml/2006/main">
  <p:tag name="KSO_WM_SLIDE_TYPE" val="text"/>
  <p:tag name="KSO_WM_BEAUTIFY_FLAG" val="#wm#"/>
</p:tagLst>
</file>

<file path=ppt/tags/tag181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8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8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8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18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86.xml><?xml version="1.0" encoding="utf-8"?>
<p:tagLst xmlns:p="http://schemas.openxmlformats.org/presentationml/2006/main">
  <p:tag name="KSO_WM_UNIT_TEXT" val="All Places — Listing Pag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87.xml><?xml version="1.0" encoding="utf-8"?>
<p:tagLst xmlns:p="http://schemas.openxmlformats.org/presentationml/2006/main">
  <p:tag name="KSO_WM_SLIDE_TYPE" val="text"/>
  <p:tag name="KSO_WM_BEAUTIFY_FLAG" val="#wm#"/>
</p:tagLst>
</file>

<file path=ppt/tags/tag188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8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90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1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92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3.xml><?xml version="1.0" encoding="utf-8"?>
<p:tagLst xmlns:p="http://schemas.openxmlformats.org/presentationml/2006/main">
  <p:tag name="KSO_WM_UNIT_TEXT" val="Why Visit Hyderaba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194.xml><?xml version="1.0" encoding="utf-8"?>
<p:tagLst xmlns:p="http://schemas.openxmlformats.org/presentationml/2006/main">
  <p:tag name="KSO_WM_SLIDE_TYPE" val="text"/>
  <p:tag name="KSO_WM_BEAUTIFY_FLAG" val="#wm#"/>
</p:tagLst>
</file>

<file path=ppt/tags/tag1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9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7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19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9.xml><?xml version="1.0" encoding="utf-8"?>
<p:tagLst xmlns:p="http://schemas.openxmlformats.org/presentationml/2006/main">
  <p:tag name="KSO_WM_UNIT_TEXT" val="Shopping — Malls &amp; Centr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200.xml><?xml version="1.0" encoding="utf-8"?>
<p:tagLst xmlns:p="http://schemas.openxmlformats.org/presentationml/2006/main">
  <p:tag name="KSO_WM_SLIDE_TYPE" val="text"/>
  <p:tag name="KSO_WM_BEAUTIFY_FLAG" val="#wm#"/>
</p:tagLst>
</file>

<file path=ppt/tags/tag20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0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04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20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06.xml><?xml version="1.0" encoding="utf-8"?>
<p:tagLst xmlns:p="http://schemas.openxmlformats.org/presentationml/2006/main">
  <p:tag name="KSO_WM_UNIT_TEXT" val="About — History Timelin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207.xml><?xml version="1.0" encoding="utf-8"?>
<p:tagLst xmlns:p="http://schemas.openxmlformats.org/presentationml/2006/main">
  <p:tag name="KSO_WM_SLIDE_TYPE" val="text"/>
  <p:tag name="KSO_WM_BEAUTIFY_FLAG" val="#wm#"/>
</p:tagLst>
</file>

<file path=ppt/tags/tag208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209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0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1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2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3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4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5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6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7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8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19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20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2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22.xml><?xml version="1.0" encoding="utf-8"?>
<p:tagLst xmlns:p="http://schemas.openxmlformats.org/presentationml/2006/main">
  <p:tag name="KSO_WM_UNIT_TEXT" val="About — Our Stor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223.xml><?xml version="1.0" encoding="utf-8"?>
<p:tagLst xmlns:p="http://schemas.openxmlformats.org/presentationml/2006/main">
  <p:tag name="KSO_WM_SLIDE_TYPE" val="text"/>
  <p:tag name="KSO_WM_BEAUTIFY_FLAG" val="#wm#"/>
</p:tagLst>
</file>

<file path=ppt/tags/tag224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225.xml><?xml version="1.0" encoding="utf-8"?>
<p:tagLst xmlns:p="http://schemas.openxmlformats.org/presentationml/2006/main">
  <p:tag name="KSO_WM_UNIT_INDEX" val="2"/>
  <p:tag name="KSO_WM_UNIT_TYPE" val="b"/>
  <p:tag name="KSO_WM_BEAUTIFY_FLAG" val="#wm#"/>
</p:tagLst>
</file>

<file path=ppt/tags/tag226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UNIT_ID" val="diagram19882022*l_h_i*1_1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27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28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UNIT_ID" val="diagram19882022*l_h_f*1_1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29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UNIT_ID" val="diagram19882022*l_h_i*1_2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0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1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2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UNIT_ID" val="diagram19882022*l_h_i*1_3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3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UNIT_ID" val="diagram19882022*l_h_a*1_3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4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UNIT_ID" val="diagram19882022*l_h_f*1_3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5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UNIT_ID" val="diagram19882022*l_h_i*1_4_1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6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UNIT_ID" val="diagram19882022*l_h_a*1_4_2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7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  <p:tag name="KSO_WM_DIAGRAM_VIRTUALLY_FRAME" val="{&quot;height&quot;:270,&quot;left&quot;:64.8,&quot;top&quot;:154.8,&quot;width&quot;:829.45}"/>
</p:tagLst>
</file>

<file path=ppt/tags/tag23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39.xml><?xml version="1.0" encoding="utf-8"?>
<p:tagLst xmlns:p="http://schemas.openxmlformats.org/presentationml/2006/main">
  <p:tag name="KSO_WM_SLIDE_TYPE" val="text"/>
  <p:tag name="KSO_WM_BEAUTIFY_FLAG" val="#wm#"/>
</p:tagLst>
</file>

<file path=ppt/tags/tag240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241.xml><?xml version="1.0" encoding="utf-8"?>
<p:tagLst xmlns:p="http://schemas.openxmlformats.org/presentationml/2006/main">
  <p:tag name="KSO_WM_UNIT_INDEX" val="2"/>
  <p:tag name="KSO_WM_UNIT_TYPE" val="i"/>
  <p:tag name="KSO_WM_UNIT_SUBTYPE" val="h"/>
  <p:tag name="KSO_WM_BEAUTIFY_FLAG" val="#wm#"/>
</p:tagLst>
</file>

<file path=ppt/tags/tag24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44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57.76000000000005,&quot;left&quot;:64.8,&quot;top&quot;:176.4,&quot;width&quot;:802.8}"/>
</p:tagLst>
</file>

<file path=ppt/tags/tag245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3*l_h_f*1_1_2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46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4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4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57.76000000000005,&quot;left&quot;:64.8,&quot;top&quot;:176.4,&quot;width&quot;:802.8}"/>
</p:tagLst>
</file>

<file path=ppt/tags/tag249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3*l_h_f*1_2_2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50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51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52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  <p:tag name="KSO_WM_DIAGRAM_VIRTUALLY_FRAME" val="{&quot;height&quot;:257.76000000000005,&quot;left&quot;:64.8,&quot;top&quot;:176.4,&quot;width&quot;:802.8}"/>
</p:tagLst>
</file>

<file path=ppt/tags/tag253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54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  <p:tag name="KSO_WM_DIAGRAM_VIRTUALLY_FRAME" val="{&quot;height&quot;:257.76000000000005,&quot;left&quot;:64.8,&quot;top&quot;:176.4,&quot;width&quot;:802.8}"/>
</p:tagLst>
</file>

<file path=ppt/tags/tag255.xml><?xml version="1.0" encoding="utf-8"?>
<p:tagLst xmlns:p="http://schemas.openxmlformats.org/presentationml/2006/main">
  <p:tag name="KSO_WM_UNIT_INDEX" val="17"/>
  <p:tag name="KSO_WM_UNIT_TYPE" val="a"/>
  <p:tag name="KSO_WM_BEAUTIFY_FLAG" val="#wm#"/>
</p:tagLst>
</file>

<file path=ppt/tags/tag256.xml><?xml version="1.0" encoding="utf-8"?>
<p:tagLst xmlns:p="http://schemas.openxmlformats.org/presentationml/2006/main">
  <p:tag name="KSO_WM_UNIT_TEXT" val="Challenges Face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7*a*1"/>
  <p:tag name="KSO_WM_UNIT_LAYERLEVEL" val="1"/>
  <p:tag name="KSO_WM_TAG_VERSION" val="3.0"/>
</p:tagLst>
</file>

<file path=ppt/tags/tag257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2">
      <a:dk1>
        <a:srgbClr val="000000"/>
      </a:dk1>
      <a:lt1>
        <a:srgbClr val="FFFFFF"/>
      </a:lt1>
      <a:dk2>
        <a:srgbClr val="44546A"/>
      </a:dk2>
      <a:lt2>
        <a:srgbClr val="E2EAFE"/>
      </a:lt2>
      <a:accent1>
        <a:srgbClr val="044AFA"/>
      </a:accent1>
      <a:accent2>
        <a:srgbClr val="0366F7"/>
      </a:accent2>
      <a:accent3>
        <a:srgbClr val="0282F4"/>
      </a:accent3>
      <a:accent4>
        <a:srgbClr val="029FF1"/>
      </a:accent4>
      <a:accent5>
        <a:srgbClr val="01BBEE"/>
      </a:accent5>
      <a:accent6>
        <a:srgbClr val="00D7EB"/>
      </a:accent6>
      <a:hlink>
        <a:srgbClr val="FF0000"/>
      </a:hlink>
      <a:folHlink>
        <a:srgbClr val="E420E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4846</Words>
  <Application>WPS Presentation</Application>
  <PresentationFormat>Widescreen</PresentationFormat>
  <Paragraphs>264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Microsoft YaHei</vt:lpstr>
      <vt:lpstr>Arial Unicode MS</vt:lpstr>
      <vt:lpstr>Wingdings</vt:lpstr>
      <vt:lpstr>Manrope ExtraBold</vt:lpstr>
      <vt:lpstr>Segoe Print</vt:lpstr>
      <vt:lpstr>Lato</vt:lpstr>
      <vt:lpstr>Times New Roman</vt:lpstr>
      <vt:lpstr>Office Theme</vt:lpstr>
      <vt:lpstr>1_Office Theme</vt:lpstr>
      <vt:lpstr>A Multi-Page HTML5 &amp;amp; CSS3 Tourism Website Showcasing Hyderabad's Heritage, Culture &amp;amp; Attractions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Purni Subramanyam</cp:lastModifiedBy>
  <cp:revision>6</cp:revision>
  <dcterms:created xsi:type="dcterms:W3CDTF">2026-08-01T04:06:00Z</dcterms:created>
  <dcterms:modified xsi:type="dcterms:W3CDTF">2026-08-02T13:05:12Z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8CBD03589C29411A8CA023A14A136633_13</vt:lpwstr>
  </property>
</Properties>
</file>